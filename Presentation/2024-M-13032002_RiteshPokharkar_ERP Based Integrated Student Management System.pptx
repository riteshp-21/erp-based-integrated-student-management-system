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4" r:id="rId8"/>
    <p:sldId id="274" r:id="rId9"/>
    <p:sldId id="275" r:id="rId10"/>
    <p:sldId id="276" r:id="rId11"/>
    <p:sldId id="265" r:id="rId12"/>
    <p:sldId id="27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646" y="1992261"/>
            <a:ext cx="8524568" cy="986102"/>
          </a:xfrm>
        </p:spPr>
        <p:txBody>
          <a:bodyPr>
            <a:noAutofit/>
          </a:bodyPr>
          <a:lstStyle/>
          <a:p>
            <a:r>
              <a:rPr lang="en-US" sz="3200" b="1" dirty="0"/>
              <a:t>ERP-Based Integrated Student Management System</a:t>
            </a:r>
            <a:endParaRPr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6907" y="4385187"/>
            <a:ext cx="5257648" cy="2233152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Name: Ritesh Pokharkar, Ankit Pathak, Dharmik Kapadiya</a:t>
            </a:r>
          </a:p>
          <a:p>
            <a:pPr algn="l"/>
            <a:r>
              <a:rPr lang="en-US" sz="1600" dirty="0"/>
              <a:t>Program:</a:t>
            </a:r>
            <a:r>
              <a:rPr lang="en-IN" sz="1600" dirty="0"/>
              <a:t>MCA -DS</a:t>
            </a:r>
            <a:endParaRPr lang="en-US" sz="1600" dirty="0"/>
          </a:p>
          <a:p>
            <a:pPr algn="l"/>
            <a:r>
              <a:rPr lang="en-US" sz="1600" dirty="0"/>
              <a:t>URN No:2024-M-13032002</a:t>
            </a:r>
          </a:p>
          <a:p>
            <a:pPr algn="l"/>
            <a:r>
              <a:rPr lang="en-US" sz="1600" dirty="0"/>
              <a:t>	     2024-M-22102002</a:t>
            </a:r>
          </a:p>
          <a:p>
            <a:pPr algn="l"/>
            <a:r>
              <a:rPr lang="en-US" sz="1600" dirty="0"/>
              <a:t>	     2024-M-12102002</a:t>
            </a:r>
          </a:p>
          <a:p>
            <a:pPr algn="l"/>
            <a:r>
              <a:rPr lang="en-US" sz="1600" dirty="0"/>
              <a:t>Project Id-MCADS02</a:t>
            </a:r>
          </a:p>
          <a:p>
            <a:pPr algn="l"/>
            <a:r>
              <a:rPr lang="en-US" sz="1600" dirty="0"/>
              <a:t>Team Members Name: Ankit Pathak, Dharmik Kapadiya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905E9-13EC-8316-0474-37498A461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782" y="368808"/>
            <a:ext cx="4489502" cy="156862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838B2A9-EA28-F932-3750-8DACC96FA8CC}"/>
              </a:ext>
            </a:extLst>
          </p:cNvPr>
          <p:cNvSpPr txBox="1">
            <a:spLocks/>
          </p:cNvSpPr>
          <p:nvPr/>
        </p:nvSpPr>
        <p:spPr>
          <a:xfrm>
            <a:off x="5594555" y="5338917"/>
            <a:ext cx="3549445" cy="1361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00" dirty="0"/>
          </a:p>
          <a:p>
            <a:pPr algn="l"/>
            <a:r>
              <a:rPr lang="en-US" sz="1600" dirty="0"/>
              <a:t>Guide </a:t>
            </a:r>
            <a:r>
              <a:rPr lang="en-US" sz="1600" dirty="0" err="1"/>
              <a:t>Name:Dr.Swati</a:t>
            </a:r>
            <a:r>
              <a:rPr lang="en-US" sz="1600" dirty="0"/>
              <a:t> Patel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0F65CA-8478-FC7A-F9D3-3F89162C4270}"/>
              </a:ext>
            </a:extLst>
          </p:cNvPr>
          <p:cNvSpPr txBox="1"/>
          <p:nvPr/>
        </p:nvSpPr>
        <p:spPr>
          <a:xfrm>
            <a:off x="2559537" y="3552719"/>
            <a:ext cx="48374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          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A5C6-1BA0-EE89-79E6-82361866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Table of Content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BEF71-AEB7-C87C-A2FE-3E85237D0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806678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Introduction</a:t>
            </a:r>
          </a:p>
          <a:p>
            <a:r>
              <a:rPr lang="en-US" sz="2000" dirty="0"/>
              <a:t>Problem Statement</a:t>
            </a:r>
          </a:p>
          <a:p>
            <a:r>
              <a:rPr lang="en-US" sz="2000" dirty="0"/>
              <a:t>Literature Review</a:t>
            </a:r>
          </a:p>
          <a:p>
            <a:r>
              <a:rPr lang="en-US" sz="2000" dirty="0"/>
              <a:t>Research Methodology</a:t>
            </a:r>
          </a:p>
          <a:p>
            <a:r>
              <a:rPr lang="en-US" sz="2000" dirty="0"/>
              <a:t>Flow Chart</a:t>
            </a:r>
          </a:p>
          <a:p>
            <a:r>
              <a:rPr lang="en-US" sz="2000" dirty="0"/>
              <a:t>Future Scope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5785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BD7137-8CA0-CE8E-7B29-C7421E67DC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431" y="1499905"/>
            <a:ext cx="8067369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Colleges manage thousands of students every academic year.</a:t>
            </a:r>
          </a:p>
          <a:p>
            <a:r>
              <a:rPr lang="en-US" sz="2000" dirty="0"/>
              <a:t>Student-related activities such as admissions, fees, hostel allocation, and examinations are handled by different departments.</a:t>
            </a:r>
          </a:p>
          <a:p>
            <a:r>
              <a:rPr lang="en-US" sz="2000" dirty="0"/>
              <a:t>Each department maintains its own registers or digital files.</a:t>
            </a:r>
          </a:p>
          <a:p>
            <a:r>
              <a:rPr lang="en-US" sz="2000" dirty="0"/>
              <a:t>There is no common platform to share or synchronize student data.</a:t>
            </a:r>
          </a:p>
          <a:p>
            <a:r>
              <a:rPr lang="en-US" sz="2000" dirty="0"/>
              <a:t>Students are required to submit the same information multiple times.</a:t>
            </a:r>
          </a:p>
          <a:p>
            <a:r>
              <a:rPr lang="en-US" sz="2000" dirty="0"/>
              <a:t>Manual handling increases the chances of data loss, inconsistency, and human error.</a:t>
            </a:r>
          </a:p>
          <a:p>
            <a:r>
              <a:rPr lang="en-US" sz="2000" dirty="0"/>
              <a:t>Administrators lack a centralized system to monitor institutional performance in real time.</a:t>
            </a:r>
          </a:p>
          <a:p>
            <a:r>
              <a:rPr lang="en-US" sz="2000" dirty="0"/>
              <a:t>Existing commercial ERP solutions are costly and difficult to customize for public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626" y="1651818"/>
            <a:ext cx="8313174" cy="4931543"/>
          </a:xfrm>
        </p:spPr>
        <p:txBody>
          <a:bodyPr>
            <a:normAutofit/>
          </a:bodyPr>
          <a:lstStyle/>
          <a:p>
            <a:r>
              <a:rPr lang="en-US" sz="2000" dirty="0"/>
              <a:t>Observed inefficiency and delays in college administrative processes.</a:t>
            </a:r>
          </a:p>
          <a:p>
            <a:r>
              <a:rPr lang="en-US" sz="2000" dirty="0"/>
              <a:t>Repetitive data entry wastes staff time and institutional resources.</a:t>
            </a:r>
          </a:p>
          <a:p>
            <a:r>
              <a:rPr lang="en-US" sz="2000" dirty="0"/>
              <a:t>Students face inconvenience due to multiple counters and long queues.</a:t>
            </a:r>
          </a:p>
          <a:p>
            <a:r>
              <a:rPr lang="en-US" sz="2000" dirty="0"/>
              <a:t>Government colleges often have budget constraints.</a:t>
            </a:r>
          </a:p>
          <a:p>
            <a:r>
              <a:rPr lang="en-US" sz="2000" dirty="0"/>
              <a:t>Availability of cloud tools makes integration possible at low cost.</a:t>
            </a:r>
          </a:p>
          <a:p>
            <a:r>
              <a:rPr lang="en-US" sz="2000" dirty="0"/>
              <a:t>Staff is already familiar with basic digital tools like forms and spreadsheets.</a:t>
            </a:r>
          </a:p>
          <a:p>
            <a:r>
              <a:rPr lang="en-US" sz="2000" dirty="0"/>
              <a:t>Motivation to design a scalable and affordable ERP solution.</a:t>
            </a:r>
          </a:p>
          <a:p>
            <a:r>
              <a:rPr lang="en-US" sz="2000" dirty="0"/>
              <a:t>Aim to simplify administrative workflows while maintaining data security.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A9F486-28F4-6B3F-EB91-C6FD6789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1612"/>
            <a:ext cx="8229600" cy="1160206"/>
          </a:xfrm>
        </p:spPr>
        <p:txBody>
          <a:bodyPr>
            <a:noAutofit/>
          </a:bodyPr>
          <a:lstStyle/>
          <a:p>
            <a:r>
              <a:rPr lang="en-US" sz="4000" b="1" dirty="0"/>
              <a:t>Motivation for the Research</a:t>
            </a:r>
            <a:br>
              <a:rPr lang="en-US" sz="4000" b="1" dirty="0"/>
            </a:br>
            <a:endParaRPr lang="en-IN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085A6A84-E877-E69C-602D-9942AA00A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u="sng" dirty="0"/>
              <a:t>Relevance to Domain (Education Sector)</a:t>
            </a:r>
          </a:p>
          <a:p>
            <a:endParaRPr lang="en-US" sz="8000" dirty="0"/>
          </a:p>
          <a:p>
            <a:r>
              <a:rPr lang="en-US" sz="8000" dirty="0"/>
              <a:t>Supports digital transformation in educational institutions.</a:t>
            </a:r>
          </a:p>
          <a:p>
            <a:r>
              <a:rPr lang="en-US" sz="8000" dirty="0"/>
              <a:t>Integrates admission, fee, hostel, and examination processes into a single system.</a:t>
            </a:r>
          </a:p>
          <a:p>
            <a:r>
              <a:rPr lang="en-US" sz="8000" dirty="0"/>
              <a:t>Reduces manual workload for academic and administrative staff.</a:t>
            </a:r>
          </a:p>
          <a:p>
            <a:r>
              <a:rPr lang="en-US" sz="8000" dirty="0"/>
              <a:t>Improves accuracy and consistency of student records.</a:t>
            </a:r>
          </a:p>
          <a:p>
            <a:r>
              <a:rPr lang="en-US" sz="8000" dirty="0"/>
              <a:t>Enables real-time access to institutional data.</a:t>
            </a:r>
          </a:p>
          <a:p>
            <a:r>
              <a:rPr lang="en-US" sz="8000" dirty="0"/>
              <a:t>Helps administrators in academic planning and resource allocation.</a:t>
            </a:r>
          </a:p>
          <a:p>
            <a:r>
              <a:rPr lang="en-US" sz="8000" dirty="0"/>
              <a:t>Encourages adoption of smart automation in college management.</a:t>
            </a:r>
            <a:br>
              <a:rPr lang="en-US" sz="8000" dirty="0"/>
            </a:br>
            <a:endParaRPr lang="en-US" sz="8000" dirty="0"/>
          </a:p>
          <a:p>
            <a:pPr marL="0" indent="0">
              <a:buNone/>
            </a:pPr>
            <a:r>
              <a:rPr lang="en-US" sz="8000" b="1" u="sng" dirty="0"/>
              <a:t>Relevance to Society</a:t>
            </a:r>
          </a:p>
          <a:p>
            <a:r>
              <a:rPr lang="en-US" sz="8000" dirty="0"/>
              <a:t>Reduces time spent by students in administrative queues.</a:t>
            </a:r>
          </a:p>
          <a:p>
            <a:r>
              <a:rPr lang="en-US" sz="8000" dirty="0"/>
              <a:t>Improves transparency in fee collection and hostel allocation.</a:t>
            </a:r>
          </a:p>
          <a:p>
            <a:r>
              <a:rPr lang="en-US" sz="8000" dirty="0"/>
              <a:t>Enhances student experience through faster and smoother services.</a:t>
            </a:r>
          </a:p>
          <a:p>
            <a:endParaRPr lang="en-IN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2C80DB37-0681-2FC1-3D1B-69AF2D106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Relevance to Domain</a:t>
            </a:r>
            <a:endParaRPr lang="en-IN" sz="4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EF0145DF-673E-A554-11FB-1C7E256D54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5304" y="1150626"/>
            <a:ext cx="873104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Promotes equal access to digital services in government colleges.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Encourages paperless and eco-friendly administration.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Supports Digital India and e-Governance initiatives.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Builds trust between institutions, students, and parents.</a:t>
            </a: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b="1" u="sng" dirty="0"/>
              <a:t>Relevance to Industry </a:t>
            </a:r>
          </a:p>
          <a:p>
            <a:r>
              <a:rPr lang="en-US" sz="2000" dirty="0"/>
              <a:t>Provides a cost-effective alternative to commercial ERP systems.</a:t>
            </a:r>
          </a:p>
          <a:p>
            <a:r>
              <a:rPr lang="en-US" sz="2000" dirty="0"/>
              <a:t>Suitable for small and medium government institutions.</a:t>
            </a:r>
          </a:p>
          <a:p>
            <a:r>
              <a:rPr lang="en-US" sz="2000" dirty="0"/>
              <a:t>Reduces operational and administrative costs.</a:t>
            </a:r>
          </a:p>
          <a:p>
            <a:r>
              <a:rPr lang="en-US" sz="2000" dirty="0"/>
              <a:t>Enables data-driven decision-making using dashboards.</a:t>
            </a:r>
          </a:p>
          <a:p>
            <a:r>
              <a:rPr lang="en-US" sz="2000" dirty="0"/>
              <a:t>Can be scaled across multiple colleges or departments.</a:t>
            </a:r>
          </a:p>
          <a:p>
            <a:r>
              <a:rPr lang="en-US" sz="2000" dirty="0"/>
              <a:t>Encourages innovation in public-sector IT solutions.</a:t>
            </a:r>
          </a:p>
          <a:p>
            <a:r>
              <a:rPr lang="en-US" sz="2000" dirty="0"/>
              <a:t>Creates opportunities for industry collaboration in education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EA2D7B-1A92-BFC9-2C09-6544A226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Problem Statement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0F3C4FA-B3CC-9986-425E-2CCE4B8E45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3795" y="1333379"/>
            <a:ext cx="7246374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Student-related activities such as admissions, fee collection, hostel allocation, and examinations are handled using separate systems or manual records.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same student information is repeatedly entered by different departments.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results in data duplication, inconsistency, and increased chances of errors.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Students are required to visit multiple counters, causing delays and inconvenience.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College administrators do not have access to real-time, consolidated data.</a:t>
            </a: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ERP solutions are expensive and not affordable for many government institutions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CF81D-C6B5-35C4-8ECF-0640FB0A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9D6D96-7668-A81F-AB77-37B5EC5A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Literature Review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B19B31D-BC10-E875-9A1B-9E62F06D0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3795" y="1837174"/>
            <a:ext cx="8681882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b="1" dirty="0"/>
              <a:t>1. ERP System for School Governance in Indonesia</a:t>
            </a:r>
          </a:p>
          <a:p>
            <a:r>
              <a:rPr lang="en-US" sz="2000" dirty="0"/>
              <a:t>Proposed an ERP-based system to integrate academic, financial, and administrative processes.</a:t>
            </a:r>
          </a:p>
          <a:p>
            <a:r>
              <a:rPr lang="en-US" sz="2000" dirty="0"/>
              <a:t>Improved transparency and real-time data sharing across departments.</a:t>
            </a:r>
          </a:p>
          <a:p>
            <a:r>
              <a:rPr lang="en-US" sz="2000" dirty="0"/>
              <a:t>Limited focus on low-cost implementation for public institutions.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2. Integrated Education Management System via Cloud Computing</a:t>
            </a:r>
          </a:p>
          <a:p>
            <a:r>
              <a:rPr lang="en-US" sz="2000" dirty="0"/>
              <a:t>Highlighted the role of cloud-based ERP in automating admissions and student records.</a:t>
            </a:r>
          </a:p>
          <a:p>
            <a:r>
              <a:rPr lang="en-US" sz="2000" dirty="0"/>
              <a:t>Emphasized centralized data and improved decision-making.</a:t>
            </a:r>
          </a:p>
          <a:p>
            <a:r>
              <a:rPr lang="en-US" sz="2000" dirty="0"/>
              <a:t>Mainly designed for large institutions with sufficient infrastructure.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11731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3A0E-8A0A-8052-B013-08BC560F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ED8017E-EF08-08F7-D77D-2BB58F63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Literature Review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51021-ED40-DD5E-217E-E1F3DF2B283A}"/>
              </a:ext>
            </a:extLst>
          </p:cNvPr>
          <p:cNvSpPr txBox="1"/>
          <p:nvPr/>
        </p:nvSpPr>
        <p:spPr>
          <a:xfrm>
            <a:off x="245806" y="1641987"/>
            <a:ext cx="85344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Web Application for Student Management System using ERP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Developed an ERP-based web system to reduce manual paperwork.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Improved efficiency in student registration and record 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Covered limited modules and lacked real-time analytics.</a:t>
            </a:r>
          </a:p>
          <a:p>
            <a:endParaRPr lang="en-US" sz="2000" b="1" dirty="0"/>
          </a:p>
          <a:p>
            <a:r>
              <a:rPr lang="en-US" sz="2000" b="1" dirty="0"/>
              <a:t>4. Integrating Mobile Computing in University Information Management       </a:t>
            </a:r>
          </a:p>
          <a:p>
            <a:r>
              <a:rPr lang="en-US" sz="2000" b="1" dirty="0"/>
              <a:t>    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Integrated mobile applications with ERP systems to enhance accessibility.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Enabled students to access academic and hostel information anytime.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Focused more on mobile usability than full ERP integration.</a:t>
            </a:r>
          </a:p>
          <a:p>
            <a:endParaRPr lang="en-US" sz="2000" dirty="0"/>
          </a:p>
          <a:p>
            <a:r>
              <a:rPr lang="en-US" sz="2000" b="1" dirty="0"/>
              <a:t>5. Architecture in Institutional Management Systems using Odoo ERP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Explained ERP architecture for higher education institutions.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Demonstrated flexibility and scalability using open-source ERP.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Required technical expertise and structured implementation planning.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3280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C6CC8-DCF5-FEFD-2112-4DD277E3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66402A-9BFF-DC2E-2208-B289C4F5B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Literature Review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B8423B-03A5-6226-1E52-7D7263E01182}"/>
              </a:ext>
            </a:extLst>
          </p:cNvPr>
          <p:cNvSpPr txBox="1"/>
          <p:nvPr/>
        </p:nvSpPr>
        <p:spPr>
          <a:xfrm>
            <a:off x="245806" y="1641987"/>
            <a:ext cx="8534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6. A Realistic and Practical Guide for Creating Intelligent Integrated Solutions in   </a:t>
            </a:r>
          </a:p>
          <a:p>
            <a:r>
              <a:rPr lang="en-US" sz="2000" b="1" dirty="0"/>
              <a:t>     Higher Education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Discussed ERP selection using enterprise architecture principles.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Helped reduce risks in ERP implementation.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Assumed availability of advanced planning and resources.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7. A Theoretical Model for a Smart Management Information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Proposed integration of ERP with cloud and smart technologies.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Highlighted future-ready educational management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Remained theoretical without practical deployment.</a:t>
            </a:r>
          </a:p>
        </p:txBody>
      </p:sp>
    </p:spTree>
    <p:extLst>
      <p:ext uri="{BB962C8B-B14F-4D97-AF65-F5344CB8AC3E}">
        <p14:creationId xmlns:p14="http://schemas.microsoft.com/office/powerpoint/2010/main" val="1725285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EFE23C-201E-DF89-B69F-956B495C1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86813"/>
            <a:ext cx="8691716" cy="65089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u="sng" dirty="0"/>
              <a:t>Scope of the Project</a:t>
            </a:r>
          </a:p>
          <a:p>
            <a:r>
              <a:rPr lang="en-US" sz="1900" dirty="0"/>
              <a:t>Development of a centralized student management system.</a:t>
            </a:r>
          </a:p>
          <a:p>
            <a:r>
              <a:rPr lang="en-US" sz="1900" dirty="0"/>
              <a:t>Integration of admission, fee collection, hostel allocation, and examination modules.</a:t>
            </a:r>
          </a:p>
          <a:p>
            <a:r>
              <a:rPr lang="en-US" sz="1900" dirty="0"/>
              <a:t>Use of a single student database as the source of truth.</a:t>
            </a:r>
          </a:p>
          <a:p>
            <a:r>
              <a:rPr lang="en-US" sz="1900" dirty="0"/>
              <a:t>Generation of digital fee receipts.</a:t>
            </a:r>
          </a:p>
          <a:p>
            <a:r>
              <a:rPr lang="en-US" sz="1900" dirty="0"/>
              <a:t>Real-time dashboards for administrators.</a:t>
            </a:r>
          </a:p>
          <a:p>
            <a:r>
              <a:rPr lang="en-US" sz="1900" dirty="0"/>
              <a:t>Role-based access for staff and students.</a:t>
            </a:r>
          </a:p>
          <a:p>
            <a:r>
              <a:rPr lang="en-US" sz="1900" dirty="0"/>
              <a:t>Use of low-cost, cloud-based or open-source technologies.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b="1" u="sng" dirty="0"/>
              <a:t>Objectives of the Study</a:t>
            </a:r>
          </a:p>
          <a:p>
            <a:r>
              <a:rPr lang="en-US" sz="1900" dirty="0"/>
              <a:t>To study the existing manual and fragmented student management processes in colleges.</a:t>
            </a:r>
          </a:p>
          <a:p>
            <a:r>
              <a:rPr lang="en-US" sz="1900" dirty="0"/>
              <a:t>To design a centralized system for managing student information.</a:t>
            </a:r>
          </a:p>
          <a:p>
            <a:r>
              <a:rPr lang="en-US" sz="1900" dirty="0"/>
              <a:t>To integrate admission, fee collection, hostel allocation, and examination records.</a:t>
            </a:r>
          </a:p>
          <a:p>
            <a:r>
              <a:rPr lang="en-US" sz="1900" dirty="0"/>
              <a:t>To reduce data duplication and manual paperwork.</a:t>
            </a:r>
          </a:p>
          <a:p>
            <a:r>
              <a:rPr lang="en-US" sz="1900" dirty="0"/>
              <a:t>To improve efficiency and accuracy in administrative operations.</a:t>
            </a:r>
          </a:p>
          <a:p>
            <a:r>
              <a:rPr lang="en-US" sz="1900" dirty="0"/>
              <a:t>To provide real-time dashboards for college administrators.</a:t>
            </a:r>
          </a:p>
          <a:p>
            <a:r>
              <a:rPr lang="en-US" sz="1900" dirty="0"/>
              <a:t>To develop a low-cost and easily adoptable ERP solution.</a:t>
            </a:r>
          </a:p>
          <a:p>
            <a:pPr marL="0" indent="0"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5DBFF0-B3B6-4497-5C1C-A680B74D030B}"/>
              </a:ext>
            </a:extLst>
          </p:cNvPr>
          <p:cNvSpPr/>
          <p:nvPr/>
        </p:nvSpPr>
        <p:spPr>
          <a:xfrm>
            <a:off x="3767777" y="1664784"/>
            <a:ext cx="1201918" cy="2769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A4398-027B-30F0-FAF9-7BC58B82ADAD}"/>
              </a:ext>
            </a:extLst>
          </p:cNvPr>
          <p:cNvSpPr txBox="1"/>
          <p:nvPr/>
        </p:nvSpPr>
        <p:spPr>
          <a:xfrm>
            <a:off x="3859688" y="1652412"/>
            <a:ext cx="101809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START</a:t>
            </a:r>
            <a:endParaRPr lang="en-IN" sz="135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C017B2-E4D6-5612-9A07-AEB2AD799062}"/>
              </a:ext>
            </a:extLst>
          </p:cNvPr>
          <p:cNvCxnSpPr/>
          <p:nvPr/>
        </p:nvCxnSpPr>
        <p:spPr>
          <a:xfrm>
            <a:off x="4368735" y="1941783"/>
            <a:ext cx="0" cy="304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32F5C8-4A14-C055-F6C7-7B30661B71BD}"/>
              </a:ext>
            </a:extLst>
          </p:cNvPr>
          <p:cNvSpPr/>
          <p:nvPr/>
        </p:nvSpPr>
        <p:spPr>
          <a:xfrm>
            <a:off x="2583537" y="2245812"/>
            <a:ext cx="3598682" cy="452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5D416D-BECC-B467-0DB6-DF56AFB4A9E8}"/>
              </a:ext>
            </a:extLst>
          </p:cNvPr>
          <p:cNvSpPr txBox="1"/>
          <p:nvPr/>
        </p:nvSpPr>
        <p:spPr>
          <a:xfrm>
            <a:off x="2756754" y="2308162"/>
            <a:ext cx="322396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Student fills Admission Form (Online)</a:t>
            </a:r>
            <a:endParaRPr lang="en-IN" sz="135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9F14D5-22A8-4173-FD12-3BF43408C45B}"/>
              </a:ext>
            </a:extLst>
          </p:cNvPr>
          <p:cNvCxnSpPr>
            <a:stCxn id="12" idx="2"/>
          </p:cNvCxnSpPr>
          <p:nvPr/>
        </p:nvCxnSpPr>
        <p:spPr>
          <a:xfrm flipH="1">
            <a:off x="4375808" y="2698299"/>
            <a:ext cx="7070" cy="305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0F18BA-45CD-5E25-2F62-091E2FD036EA}"/>
              </a:ext>
            </a:extLst>
          </p:cNvPr>
          <p:cNvSpPr/>
          <p:nvPr/>
        </p:nvSpPr>
        <p:spPr>
          <a:xfrm>
            <a:off x="2675445" y="3003966"/>
            <a:ext cx="3386579" cy="4524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4E7875-4D5E-D1A2-9B70-047777E5CCA9}"/>
              </a:ext>
            </a:extLst>
          </p:cNvPr>
          <p:cNvSpPr txBox="1"/>
          <p:nvPr/>
        </p:nvSpPr>
        <p:spPr>
          <a:xfrm>
            <a:off x="2802709" y="2993741"/>
            <a:ext cx="313205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Central Student Database</a:t>
            </a:r>
          </a:p>
          <a:p>
            <a:pPr algn="ctr"/>
            <a:r>
              <a:rPr lang="en-US" sz="1350" dirty="0"/>
              <a:t>(One Student = One Unique ID)</a:t>
            </a:r>
            <a:endParaRPr lang="en-IN" sz="135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5C5D76-FBBF-7A75-A3D5-BDA7AA151BB3}"/>
              </a:ext>
            </a:extLst>
          </p:cNvPr>
          <p:cNvCxnSpPr>
            <a:cxnSpLocks/>
          </p:cNvCxnSpPr>
          <p:nvPr/>
        </p:nvCxnSpPr>
        <p:spPr>
          <a:xfrm flipH="1">
            <a:off x="4382878" y="3436070"/>
            <a:ext cx="1" cy="311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518FA0F-FAEA-17A7-97A0-D34D44F23F8F}"/>
              </a:ext>
            </a:extLst>
          </p:cNvPr>
          <p:cNvCxnSpPr/>
          <p:nvPr/>
        </p:nvCxnSpPr>
        <p:spPr>
          <a:xfrm>
            <a:off x="2756752" y="3761294"/>
            <a:ext cx="32239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ECC75E-BDB4-0C0B-876B-26E0C7D123EF}"/>
              </a:ext>
            </a:extLst>
          </p:cNvPr>
          <p:cNvCxnSpPr/>
          <p:nvPr/>
        </p:nvCxnSpPr>
        <p:spPr>
          <a:xfrm>
            <a:off x="2756752" y="3761294"/>
            <a:ext cx="0" cy="325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436EE31-5E1C-4236-9FA4-914C81952648}"/>
              </a:ext>
            </a:extLst>
          </p:cNvPr>
          <p:cNvCxnSpPr/>
          <p:nvPr/>
        </p:nvCxnSpPr>
        <p:spPr>
          <a:xfrm>
            <a:off x="5980715" y="3761294"/>
            <a:ext cx="0" cy="311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201CB58-C29A-4F21-A9E7-309A8AF492EF}"/>
              </a:ext>
            </a:extLst>
          </p:cNvPr>
          <p:cNvSpPr/>
          <p:nvPr/>
        </p:nvSpPr>
        <p:spPr>
          <a:xfrm>
            <a:off x="1950766" y="4093590"/>
            <a:ext cx="1908923" cy="3252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94CF27-1946-4C40-CCDD-03A0B2DC4433}"/>
              </a:ext>
            </a:extLst>
          </p:cNvPr>
          <p:cNvSpPr txBox="1"/>
          <p:nvPr/>
        </p:nvSpPr>
        <p:spPr>
          <a:xfrm>
            <a:off x="2057404" y="4103537"/>
            <a:ext cx="183822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Fee Payment Module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05DA888-701D-F9FB-5353-32A237FB8108}"/>
              </a:ext>
            </a:extLst>
          </p:cNvPr>
          <p:cNvSpPr/>
          <p:nvPr/>
        </p:nvSpPr>
        <p:spPr>
          <a:xfrm>
            <a:off x="4801189" y="4082987"/>
            <a:ext cx="2052680" cy="3252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37F579-B939-4B4E-DD0A-0CECC808E79A}"/>
              </a:ext>
            </a:extLst>
          </p:cNvPr>
          <p:cNvSpPr txBox="1"/>
          <p:nvPr/>
        </p:nvSpPr>
        <p:spPr>
          <a:xfrm>
            <a:off x="4857915" y="4101256"/>
            <a:ext cx="20526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Hostel Allocation Module</a:t>
            </a:r>
            <a:endParaRPr lang="en-IN" sz="135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1901343-0102-5D65-FC65-43A9692E3CCB}"/>
              </a:ext>
            </a:extLst>
          </p:cNvPr>
          <p:cNvCxnSpPr/>
          <p:nvPr/>
        </p:nvCxnSpPr>
        <p:spPr>
          <a:xfrm>
            <a:off x="2756752" y="4418812"/>
            <a:ext cx="0" cy="27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49822B-5995-A907-6EFB-59BCB3F351D3}"/>
              </a:ext>
            </a:extLst>
          </p:cNvPr>
          <p:cNvCxnSpPr/>
          <p:nvPr/>
        </p:nvCxnSpPr>
        <p:spPr>
          <a:xfrm>
            <a:off x="5980712" y="4418812"/>
            <a:ext cx="0" cy="275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BCCE33-C82B-1EA5-4F49-06ECE30BE394}"/>
              </a:ext>
            </a:extLst>
          </p:cNvPr>
          <p:cNvCxnSpPr/>
          <p:nvPr/>
        </p:nvCxnSpPr>
        <p:spPr>
          <a:xfrm>
            <a:off x="2756752" y="4694550"/>
            <a:ext cx="32239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08EEDB8-D805-168F-E9E0-194F3D86F9EC}"/>
              </a:ext>
            </a:extLst>
          </p:cNvPr>
          <p:cNvCxnSpPr/>
          <p:nvPr/>
        </p:nvCxnSpPr>
        <p:spPr>
          <a:xfrm>
            <a:off x="4386411" y="4694549"/>
            <a:ext cx="0" cy="275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C12A465-879E-4030-7638-9CB45F466451}"/>
              </a:ext>
            </a:extLst>
          </p:cNvPr>
          <p:cNvSpPr/>
          <p:nvPr/>
        </p:nvSpPr>
        <p:spPr>
          <a:xfrm>
            <a:off x="3269337" y="4986911"/>
            <a:ext cx="2227082" cy="339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554D72-C7DA-30B2-A3CE-D77535FB8B4E}"/>
              </a:ext>
            </a:extLst>
          </p:cNvPr>
          <p:cNvSpPr txBox="1"/>
          <p:nvPr/>
        </p:nvSpPr>
        <p:spPr>
          <a:xfrm>
            <a:off x="3354179" y="4996874"/>
            <a:ext cx="205739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Examination Module</a:t>
            </a:r>
            <a:endParaRPr lang="en-IN" sz="135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7958F8-E550-82EA-AD57-5430319EB1B5}"/>
              </a:ext>
            </a:extLst>
          </p:cNvPr>
          <p:cNvCxnSpPr>
            <a:stCxn id="39" idx="2"/>
          </p:cNvCxnSpPr>
          <p:nvPr/>
        </p:nvCxnSpPr>
        <p:spPr>
          <a:xfrm>
            <a:off x="4382878" y="5296956"/>
            <a:ext cx="0" cy="237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34BC3ED-4DA9-6130-355A-AFA5745E4D71}"/>
              </a:ext>
            </a:extLst>
          </p:cNvPr>
          <p:cNvSpPr/>
          <p:nvPr/>
        </p:nvSpPr>
        <p:spPr>
          <a:xfrm>
            <a:off x="3463765" y="5550872"/>
            <a:ext cx="1947812" cy="339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6A9614-BB60-5165-4C6A-03410918B023}"/>
              </a:ext>
            </a:extLst>
          </p:cNvPr>
          <p:cNvSpPr txBox="1"/>
          <p:nvPr/>
        </p:nvSpPr>
        <p:spPr>
          <a:xfrm>
            <a:off x="3495576" y="5565841"/>
            <a:ext cx="174631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Admin Dashboard</a:t>
            </a:r>
            <a:endParaRPr lang="en-IN" sz="135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93A7BA-E093-B45D-CB1E-297838B963F9}"/>
              </a:ext>
            </a:extLst>
          </p:cNvPr>
          <p:cNvCxnSpPr>
            <a:stCxn id="43" idx="2"/>
          </p:cNvCxnSpPr>
          <p:nvPr/>
        </p:nvCxnSpPr>
        <p:spPr>
          <a:xfrm>
            <a:off x="4368734" y="5865923"/>
            <a:ext cx="14143" cy="242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2901427-EEBC-3CFE-1BBD-CCC8879846E9}"/>
              </a:ext>
            </a:extLst>
          </p:cNvPr>
          <p:cNvSpPr/>
          <p:nvPr/>
        </p:nvSpPr>
        <p:spPr>
          <a:xfrm>
            <a:off x="3761880" y="6114834"/>
            <a:ext cx="1201918" cy="339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1AAEAC-2B78-3A16-AFDE-B0C07732F425}"/>
              </a:ext>
            </a:extLst>
          </p:cNvPr>
          <p:cNvSpPr txBox="1"/>
          <p:nvPr/>
        </p:nvSpPr>
        <p:spPr>
          <a:xfrm>
            <a:off x="3895626" y="6165128"/>
            <a:ext cx="90556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END</a:t>
            </a:r>
            <a:endParaRPr lang="en-IN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5DD58-24F1-7354-13BF-8C6552803470}"/>
              </a:ext>
            </a:extLst>
          </p:cNvPr>
          <p:cNvSpPr txBox="1"/>
          <p:nvPr/>
        </p:nvSpPr>
        <p:spPr>
          <a:xfrm>
            <a:off x="206477" y="433313"/>
            <a:ext cx="8563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+mj-lt"/>
              </a:rPr>
              <a:t>Research Methodology / System Design</a:t>
            </a:r>
            <a:endParaRPr lang="en-IN" sz="40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F4F3C-6CA4-DAEE-A177-087862B3F803}"/>
              </a:ext>
            </a:extLst>
          </p:cNvPr>
          <p:cNvSpPr txBox="1"/>
          <p:nvPr/>
        </p:nvSpPr>
        <p:spPr>
          <a:xfrm>
            <a:off x="393290" y="1219200"/>
            <a:ext cx="2960889" cy="559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2E10E-988C-D928-1EDD-34AAC45477B7}"/>
              </a:ext>
            </a:extLst>
          </p:cNvPr>
          <p:cNvSpPr txBox="1"/>
          <p:nvPr/>
        </p:nvSpPr>
        <p:spPr>
          <a:xfrm>
            <a:off x="393290" y="1307690"/>
            <a:ext cx="2876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+mj-lt"/>
              </a:rPr>
              <a:t>Flow Chart</a:t>
            </a:r>
          </a:p>
        </p:txBody>
      </p:sp>
    </p:spTree>
    <p:extLst>
      <p:ext uri="{BB962C8B-B14F-4D97-AF65-F5344CB8AC3E}">
        <p14:creationId xmlns:p14="http://schemas.microsoft.com/office/powerpoint/2010/main" val="3737986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98825-6E4A-7CD7-8068-95C006069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471949"/>
            <a:ext cx="8485237" cy="6096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u="sng" dirty="0"/>
              <a:t>Description of Method / Approach / Algorithm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The system follows a centralized and modular ERP approach.</a:t>
            </a:r>
          </a:p>
          <a:p>
            <a:r>
              <a:rPr lang="en-US" sz="2000" dirty="0"/>
              <a:t>Student data is collected once through an online admission form.</a:t>
            </a:r>
          </a:p>
          <a:p>
            <a:r>
              <a:rPr lang="en-US" sz="2000" dirty="0"/>
              <a:t>A unique Student ID is generated for each admitted student.</a:t>
            </a:r>
          </a:p>
          <a:p>
            <a:r>
              <a:rPr lang="en-US" sz="2000" dirty="0"/>
              <a:t>Admission data is stored in a central student database.</a:t>
            </a:r>
          </a:p>
          <a:p>
            <a:r>
              <a:rPr lang="en-US" sz="2000" dirty="0"/>
              <a:t>Fee payment, hostel allocation, and examination modules access the same database using the Student ID.</a:t>
            </a:r>
          </a:p>
          <a:p>
            <a:r>
              <a:rPr lang="en-US" sz="2000" dirty="0"/>
              <a:t>Each module updates records in real time to avoid data duplication.</a:t>
            </a:r>
          </a:p>
          <a:p>
            <a:r>
              <a:rPr lang="en-US" sz="2000" dirty="0"/>
              <a:t>Role-based access control is applied to ensure data security.</a:t>
            </a:r>
          </a:p>
          <a:p>
            <a:r>
              <a:rPr lang="en-US" sz="2000" dirty="0"/>
              <a:t>Administrative dashboards retrieve live data for monitoring and decision-making.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8380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CA73-6BF4-4B0B-2BFF-4DEB65FE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2BAB421E-C414-3F43-B4C7-27913C310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520628"/>
              </p:ext>
            </p:extLst>
          </p:nvPr>
        </p:nvGraphicFramePr>
        <p:xfrm>
          <a:off x="304800" y="593407"/>
          <a:ext cx="8150943" cy="58521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16981">
                  <a:extLst>
                    <a:ext uri="{9D8B030D-6E8A-4147-A177-3AD203B41FA5}">
                      <a16:colId xmlns:a16="http://schemas.microsoft.com/office/drawing/2014/main" val="3386041462"/>
                    </a:ext>
                  </a:extLst>
                </a:gridCol>
                <a:gridCol w="2716981">
                  <a:extLst>
                    <a:ext uri="{9D8B030D-6E8A-4147-A177-3AD203B41FA5}">
                      <a16:colId xmlns:a16="http://schemas.microsoft.com/office/drawing/2014/main" val="2483905724"/>
                    </a:ext>
                  </a:extLst>
                </a:gridCol>
                <a:gridCol w="2716981">
                  <a:extLst>
                    <a:ext uri="{9D8B030D-6E8A-4147-A177-3AD203B41FA5}">
                      <a16:colId xmlns:a16="http://schemas.microsoft.com/office/drawing/2014/main" val="4283592073"/>
                    </a:ext>
                  </a:extLst>
                </a:gridCol>
              </a:tblGrid>
              <a:tr h="319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Category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Tool / Software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 / Usage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913132"/>
                  </a:ext>
                </a:extLst>
              </a:tr>
              <a:tr h="798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HTML, CSS, Java-Script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Design user interfaces for admission, fee, hostel, and exam modules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920517"/>
                  </a:ext>
                </a:extLst>
              </a:tr>
              <a:tr h="798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Implement server-side logic and integrate all ERP modules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199656"/>
                  </a:ext>
                </a:extLst>
              </a:tr>
              <a:tr h="798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Store centralized student records and transactional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905990"/>
                  </a:ext>
                </a:extLst>
              </a:tr>
              <a:tr h="798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XAMPP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 local server environment for backend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977660"/>
                  </a:ext>
                </a:extLst>
              </a:tr>
              <a:tr h="798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 Shiny / Power 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Visualize real-time institutional data and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505035"/>
                  </a:ext>
                </a:extLst>
              </a:tr>
              <a:tr h="798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Development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Visual Studio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Write and manage frontend and backend source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7147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657A33-76EB-EC39-F76A-D2542CBDC9E6}"/>
              </a:ext>
            </a:extLst>
          </p:cNvPr>
          <p:cNvSpPr txBox="1"/>
          <p:nvPr/>
        </p:nvSpPr>
        <p:spPr>
          <a:xfrm>
            <a:off x="393290" y="98323"/>
            <a:ext cx="3569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Tools And Software Used</a:t>
            </a:r>
          </a:p>
        </p:txBody>
      </p:sp>
    </p:spTree>
    <p:extLst>
      <p:ext uri="{BB962C8B-B14F-4D97-AF65-F5344CB8AC3E}">
        <p14:creationId xmlns:p14="http://schemas.microsoft.com/office/powerpoint/2010/main" val="2902775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48C3E-8B7F-9869-5863-8799D399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Future Scope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8F56-4AFE-69BE-F121-F76285888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1238866"/>
            <a:ext cx="8460658" cy="54765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b="1" u="sng" dirty="0"/>
              <a:t>How the Work Can Be Extended</a:t>
            </a:r>
            <a:r>
              <a:rPr lang="en-US" sz="2000" b="1" dirty="0"/>
              <a:t> </a:t>
            </a:r>
          </a:p>
          <a:p>
            <a:r>
              <a:rPr lang="en-US" sz="2000" dirty="0"/>
              <a:t>Extend the system to support multiple colleges under one platform.</a:t>
            </a:r>
          </a:p>
          <a:p>
            <a:r>
              <a:rPr lang="en-US" sz="2000" dirty="0"/>
              <a:t>Add attendance management for students and faculty.</a:t>
            </a:r>
          </a:p>
          <a:p>
            <a:r>
              <a:rPr lang="en-US" sz="2000" dirty="0"/>
              <a:t>Integrate library management with issue and return tracking.</a:t>
            </a:r>
          </a:p>
          <a:p>
            <a:r>
              <a:rPr lang="en-US" sz="2000" dirty="0"/>
              <a:t>Enable mobile access for students and staff.</a:t>
            </a:r>
          </a:p>
          <a:p>
            <a:r>
              <a:rPr lang="en-US" sz="2000" dirty="0"/>
              <a:t>Include online grievance and feedback modules.</a:t>
            </a:r>
          </a:p>
          <a:p>
            <a:r>
              <a:rPr lang="en-US" sz="2000" dirty="0"/>
              <a:t>Enhance dashboard analytics with predictive insights.</a:t>
            </a:r>
          </a:p>
          <a:p>
            <a:r>
              <a:rPr lang="en-US" sz="2000" dirty="0"/>
              <a:t>Support cloud deployment for better scalability.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IN" sz="2000" b="1" u="sng" dirty="0"/>
              <a:t>Suggestions for Further Improvements</a:t>
            </a:r>
            <a:r>
              <a:rPr lang="en-IN" sz="2000" b="1" dirty="0"/>
              <a:t> </a:t>
            </a:r>
          </a:p>
          <a:p>
            <a:r>
              <a:rPr lang="en-IN" sz="2000" dirty="0"/>
              <a:t>Improve user interface for better usability.</a:t>
            </a:r>
          </a:p>
          <a:p>
            <a:r>
              <a:rPr lang="en-IN" sz="2000" dirty="0"/>
              <a:t>Add automated notification and alert system.</a:t>
            </a:r>
          </a:p>
          <a:p>
            <a:r>
              <a:rPr lang="en-IN" sz="2000" dirty="0"/>
              <a:t>Implement advanced security features like encryption.</a:t>
            </a:r>
          </a:p>
          <a:p>
            <a:r>
              <a:rPr lang="en-IN" sz="2000" dirty="0"/>
              <a:t>Enable online payment gateway integration.</a:t>
            </a:r>
          </a:p>
          <a:p>
            <a:r>
              <a:rPr lang="en-IN" sz="2000" dirty="0"/>
              <a:t>Add report generation in PDF and Excel formats.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917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DAAE-98AA-98D5-CC3F-BC8652857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5492-B19F-80B1-AFB4-9EA988D2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Future Scope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EB3E5-449A-F532-90C6-B1E82F97B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2" y="1248698"/>
            <a:ext cx="8460658" cy="54765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u="sng" dirty="0"/>
              <a:t>Real-World Implications </a:t>
            </a:r>
          </a:p>
          <a:p>
            <a:r>
              <a:rPr lang="en-US" sz="2000" dirty="0"/>
              <a:t>Reduces administrative workload in colleges.</a:t>
            </a:r>
          </a:p>
          <a:p>
            <a:r>
              <a:rPr lang="en-US" sz="2000" dirty="0"/>
              <a:t>Improves efficiency and transparency in student services.</a:t>
            </a:r>
          </a:p>
          <a:p>
            <a:r>
              <a:rPr lang="en-US" sz="2000" dirty="0"/>
              <a:t>Saves time for students, staff, and administrators.</a:t>
            </a:r>
          </a:p>
          <a:p>
            <a:r>
              <a:rPr lang="en-US" sz="2000" dirty="0"/>
              <a:t>Makes ERP solutions affordable for government institutions.</a:t>
            </a:r>
          </a:p>
          <a:p>
            <a:r>
              <a:rPr lang="en-US" sz="2000" dirty="0"/>
              <a:t>Supports digital governance in the education sector.</a:t>
            </a:r>
          </a:p>
          <a:p>
            <a:r>
              <a:rPr lang="en-US" sz="2000" dirty="0"/>
              <a:t>Enables data-driven decision-making.</a:t>
            </a:r>
          </a:p>
          <a:p>
            <a:r>
              <a:rPr lang="en-US" sz="2000" dirty="0"/>
              <a:t>Can be adopted by colleges across regions.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7085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55F4D-B4B0-3824-05F4-83FA1945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B98FF-4041-1C17-D222-CAA939E7B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7CCA1-B4D7-328F-7342-38822B957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41" y="1238866"/>
            <a:ext cx="8731045" cy="547656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1600" dirty="0"/>
              <a:t>Abou El-</a:t>
            </a:r>
            <a:r>
              <a:rPr lang="en-IN" sz="1600" dirty="0" err="1"/>
              <a:t>Seoud</a:t>
            </a:r>
            <a:r>
              <a:rPr lang="en-IN" sz="1600" dirty="0"/>
              <a:t>, Samir, Eslam Ahmed </a:t>
            </a:r>
            <a:r>
              <a:rPr lang="en-IN" sz="1600" dirty="0" err="1"/>
              <a:t>AboGamie</a:t>
            </a:r>
            <a:r>
              <a:rPr lang="en-IN" sz="1600" dirty="0"/>
              <a:t>, and Mostafa A. Salama. "Integrated Education Management System via Cloud Computing." </a:t>
            </a:r>
            <a:r>
              <a:rPr lang="en-IN" sz="1600" i="1" dirty="0"/>
              <a:t>Int. J. Interact. Mob. Technol.</a:t>
            </a:r>
            <a:r>
              <a:rPr lang="en-IN" sz="1600" dirty="0"/>
              <a:t> 11.2 (2017): 24-33.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Alharbi, Basma. "Development of an ERP System Design Course to Improve Students' Learning Outcomes." </a:t>
            </a:r>
            <a:r>
              <a:rPr lang="en-US" sz="1600" i="1" dirty="0"/>
              <a:t>International Journal of Emerging Technologies in Learning (Online)</a:t>
            </a:r>
            <a:r>
              <a:rPr lang="en-US" sz="1600" dirty="0"/>
              <a:t> 16.12 (2021): 276.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Sinaga, Josephine </a:t>
            </a:r>
            <a:r>
              <a:rPr lang="en-US" sz="1600" dirty="0" err="1"/>
              <a:t>Halcynon</a:t>
            </a:r>
            <a:r>
              <a:rPr lang="en-US" sz="1600" dirty="0"/>
              <a:t>. "ERP System for School Governance in Indonesia." </a:t>
            </a:r>
            <a:r>
              <a:rPr lang="en-US" sz="1600" i="1" dirty="0"/>
              <a:t>Proceeding of International Conference on Research of Educational Administration and Management (ICREAM)</a:t>
            </a:r>
            <a:r>
              <a:rPr lang="en-US" sz="1600" dirty="0"/>
              <a:t>. Vol. 6. No. 1. 2022.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Lamey, Ahmed, et al. "A realistic and practical guide for creating intelligent integrated solutions in higher education using enterprise architecture." </a:t>
            </a:r>
            <a:r>
              <a:rPr lang="en-US" sz="1600" i="1" dirty="0"/>
              <a:t>Sustainability</a:t>
            </a:r>
            <a:r>
              <a:rPr lang="en-US" sz="1600" dirty="0"/>
              <a:t> 15.11 (2023): 8780.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600" dirty="0"/>
              <a:t>Fonseca, Tanisha, et al. "Web Application for Student Management System using ERP." </a:t>
            </a:r>
            <a:r>
              <a:rPr lang="en-IN" sz="1600" i="1" dirty="0"/>
              <a:t>SYSTEM</a:t>
            </a:r>
            <a:r>
              <a:rPr lang="en-IN" sz="1600" dirty="0"/>
              <a:t> 8.10 (2021).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Hassan, A., et al. "Integrating mobile computing in university information management systems to improve access and user experience." </a:t>
            </a:r>
            <a:r>
              <a:rPr lang="en-US" sz="1600" i="1" dirty="0"/>
              <a:t>Indian Journal of Science and Technology</a:t>
            </a:r>
            <a:r>
              <a:rPr lang="en-US" sz="1600" dirty="0"/>
              <a:t> 15.8 (2022): 343-350.</a:t>
            </a:r>
            <a:endParaRPr lang="en-IN" sz="1600" dirty="0"/>
          </a:p>
          <a:p>
            <a:pPr marL="457200" indent="-457200">
              <a:buFont typeface="+mj-lt"/>
              <a:buAutoNum type="arabicPeriod"/>
            </a:pPr>
            <a:r>
              <a:rPr lang="en-IN" sz="1600" dirty="0"/>
              <a:t>Lasantha, NW </a:t>
            </a:r>
            <a:r>
              <a:rPr lang="en-IN" sz="1600" dirty="0" err="1"/>
              <a:t>Chanka</a:t>
            </a:r>
            <a:r>
              <a:rPr lang="en-IN" sz="1600" dirty="0"/>
              <a:t>, and S. </a:t>
            </a:r>
            <a:r>
              <a:rPr lang="en-IN" sz="1600" dirty="0" err="1"/>
              <a:t>Vasanthapriyan</a:t>
            </a:r>
            <a:r>
              <a:rPr lang="en-IN" sz="1600" dirty="0"/>
              <a:t>. "A Theoretical Model for a Smart Management Information System Integrating with Multi-Platforms and Cloud in Education.“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600" dirty="0" err="1"/>
              <a:t>Supriyono</a:t>
            </a:r>
            <a:r>
              <a:rPr lang="en-IN" sz="1600" dirty="0"/>
              <a:t>, </a:t>
            </a:r>
            <a:r>
              <a:rPr lang="en-IN" sz="1600" dirty="0" err="1"/>
              <a:t>Supriyono</a:t>
            </a:r>
            <a:r>
              <a:rPr lang="en-IN" sz="1600" dirty="0"/>
              <a:t>. "Architecture in institutional management systems using Odoo enterprise resource planning at UIN Maulana Malik Ibrahim Malang." </a:t>
            </a:r>
            <a:r>
              <a:rPr lang="en-IN" sz="1600" i="1" dirty="0"/>
              <a:t>IJISTECH (International Journal of Information System and Technology)</a:t>
            </a:r>
            <a:r>
              <a:rPr lang="en-IN" sz="1600" dirty="0"/>
              <a:t> 5.4 (2021): 490-497.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95668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1600</Words>
  <Application>Microsoft Office PowerPoint</Application>
  <PresentationFormat>On-screen Show (4:3)</PresentationFormat>
  <Paragraphs>203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ERP-Based Integrated Student Management System</vt:lpstr>
      <vt:lpstr>Table of Content</vt:lpstr>
      <vt:lpstr>Introduction</vt:lpstr>
      <vt:lpstr>Motivation for the Research </vt:lpstr>
      <vt:lpstr>Relevance to Domain</vt:lpstr>
      <vt:lpstr>PowerPoint Presentation</vt:lpstr>
      <vt:lpstr>Problem Statement</vt:lpstr>
      <vt:lpstr>Literature Review </vt:lpstr>
      <vt:lpstr>Literature Review </vt:lpstr>
      <vt:lpstr>Literature Review </vt:lpstr>
      <vt:lpstr>PowerPoint Presentation</vt:lpstr>
      <vt:lpstr>PowerPoint Presentation</vt:lpstr>
      <vt:lpstr>PowerPoint Presentation</vt:lpstr>
      <vt:lpstr>PowerPoint Presentation</vt:lpstr>
      <vt:lpstr>Future Scope</vt:lpstr>
      <vt:lpstr>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Formatting Guidelines</dc:title>
  <dc:subject/>
  <dc:creator>Ritesh Pokharkar</dc:creator>
  <cp:keywords/>
  <dc:description>generated using python-pptx</dc:description>
  <cp:lastModifiedBy>Ritesh Pokharkar</cp:lastModifiedBy>
  <cp:revision>21</cp:revision>
  <dcterms:created xsi:type="dcterms:W3CDTF">2013-01-27T09:14:16Z</dcterms:created>
  <dcterms:modified xsi:type="dcterms:W3CDTF">2026-02-06T14:30:31Z</dcterms:modified>
  <cp:category/>
</cp:coreProperties>
</file>